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6" r:id="rId6"/>
    <p:sldId id="261" r:id="rId7"/>
    <p:sldId id="270" r:id="rId8"/>
    <p:sldId id="284" r:id="rId9"/>
    <p:sldId id="285" r:id="rId10"/>
    <p:sldId id="286" r:id="rId11"/>
    <p:sldId id="287" r:id="rId12"/>
    <p:sldId id="288" r:id="rId13"/>
    <p:sldId id="289" r:id="rId14"/>
    <p:sldId id="276" r:id="rId15"/>
    <p:sldId id="279" r:id="rId16"/>
    <p:sldId id="278" r:id="rId17"/>
    <p:sldId id="290" r:id="rId18"/>
    <p:sldId id="291" r:id="rId19"/>
    <p:sldId id="292" r:id="rId20"/>
    <p:sldId id="283" r:id="rId21"/>
    <p:sldId id="282" r:id="rId22"/>
    <p:sldId id="293" r:id="rId23"/>
    <p:sldId id="294" r:id="rId24"/>
    <p:sldId id="262" r:id="rId25"/>
    <p:sldId id="263" r:id="rId26"/>
    <p:sldId id="264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 Section" id="{B1902CDF-5E03-5541-86A1-D0EC6C0F02D6}">
          <p14:sldIdLst/>
        </p14:section>
        <p14:section name="Default Section" id="{BCF2AA37-C126-864E-B817-E1D90BFCA5F0}">
          <p14:sldIdLst>
            <p14:sldId id="256"/>
            <p14:sldId id="257"/>
          </p14:sldIdLst>
        </p14:section>
        <p14:section name="Introduction" id="{5A6A4E6F-EBFA-1145-958E-3226B578165D}">
          <p14:sldIdLst>
            <p14:sldId id="258"/>
          </p14:sldIdLst>
        </p14:section>
        <p14:section name="Objective of the Project" id="{BF94F72A-E4CF-8948-A207-C2ECF1D49F04}">
          <p14:sldIdLst>
            <p14:sldId id="259"/>
            <p14:sldId id="266"/>
          </p14:sldIdLst>
        </p14:section>
        <p14:section name="Timeline of the project" id="{838FA1D4-7B28-C342-AF15-5E28DDAFF7D0}">
          <p14:sldIdLst>
            <p14:sldId id="261"/>
            <p14:sldId id="270"/>
          </p14:sldIdLst>
        </p14:section>
        <p14:section name="Libraries used" id="{2467D3CD-0E62-844E-AFC4-1B1751BF2F14}">
          <p14:sldIdLst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Drawbacks and Advantages" id="{4FB49367-701E-E544-9B10-A5AFDA82B907}">
          <p14:sldIdLst>
            <p14:sldId id="276"/>
            <p14:sldId id="279"/>
            <p14:sldId id="278"/>
          </p14:sldIdLst>
        </p14:section>
        <p14:section name="Methodology" id="{B24D4B69-2460-0844-8AA6-EB1643D314FB}">
          <p14:sldIdLst>
            <p14:sldId id="290"/>
            <p14:sldId id="291"/>
            <p14:sldId id="292"/>
          </p14:sldIdLst>
        </p14:section>
        <p14:section name="Next Plan of Action" id="{3D4B15FB-9D0C-B44B-9DCD-22C69B9E6CA4}">
          <p14:sldIdLst>
            <p14:sldId id="283"/>
          </p14:sldIdLst>
        </p14:section>
        <p14:section name="Results and Discussion" id="{35B84299-A2CE-944A-BA65-4B63D0EF74B2}">
          <p14:sldIdLst>
            <p14:sldId id="282"/>
            <p14:sldId id="293"/>
            <p14:sldId id="294"/>
          </p14:sldIdLst>
        </p14:section>
        <p14:section name="Conclusion" id="{9661363F-B84C-F34C-BCBF-706572512B8A}">
          <p14:sldIdLst>
            <p14:sldId id="262"/>
          </p14:sldIdLst>
        </p14:section>
        <p14:section name="References" id="{DA06CE97-108B-B646-A7C0-8422D64BF436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19" autoAdjust="0"/>
    <p:restoredTop sz="94681"/>
  </p:normalViewPr>
  <p:slideViewPr>
    <p:cSldViewPr snapToGrid="0">
      <p:cViewPr varScale="1">
        <p:scale>
          <a:sx n="116" d="100"/>
          <a:sy n="116" d="100"/>
        </p:scale>
        <p:origin x="2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3218AD-74E9-4252-B911-4B421BF1F79F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6934E-70FA-4538-A02C-6D23660C6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28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73B61-4C44-3616-1AC4-C7CC3BF2E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54BAA-3310-F145-D7E8-407BE7A8CD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D1936-0F2E-C439-E548-CFD53B7E5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5F512-8975-4BF3-A04B-98EEB0D21E15}" type="datetime1">
              <a:rPr lang="en-IN" smtClean="0"/>
              <a:t>05/12/25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DD223-AEE9-D9F3-0FB8-2233981B2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B56C0-95DA-C0B4-06CB-E2F8B88CE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983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0C530-BFBD-D911-D13F-1DEF32C90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40B04-D807-19A7-D4BF-A659AAE95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69AFE-01A0-26E5-8CAC-7482B13E6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05/12/25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4D45E-7FAD-1807-D9D8-BBF6E5B07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98C32-1772-09AD-F4DE-476E16C4F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92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14C01-4AC2-6116-0AD9-93C0FD29F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99DB3-08BF-2AEF-7A0F-AD74D52FB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D96CE1-B866-F4B0-8962-AC5E9E525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F163F-D23F-463C-B7DE-B2FD934A9656}" type="datetime1">
              <a:rPr lang="en-IN" smtClean="0"/>
              <a:t>05/12/25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39EFB-92F2-4D07-49EE-D98E4844A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9EA3D-FB0A-EB4E-5F85-9495D2D34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872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35BEA-68CE-B4BE-8C0B-181E86490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EABC7-4A63-A566-3785-6559B06B28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228D3-6E45-DB2C-BB3B-BAA0B9118F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E9BE3-40A2-9A7B-F76A-80A6B6E4B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759D0-08B6-41E6-A77E-0AB9D1CBE992}" type="datetime1">
              <a:rPr lang="en-IN" smtClean="0"/>
              <a:t>05/12/25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C0015-153D-B1D8-B807-2D5901054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05B12-040B-C002-C167-6C0CB9793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40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E4F0-C6F9-4CF9-DB3C-B9AE667F0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E50C1-8915-E2E3-EC48-350BDEFD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F9AA6D-E647-1289-B7FA-2160CB52B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0A7124-6A08-EE9C-3EB1-EC65D6D581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BB6355-DC6D-2A3F-9982-4AFFCEA04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D52CB4-6FBD-2CFA-88AB-4D9E3023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38C209-D96D-4E88-BCA6-C7B1F5B6F67D}" type="datetime1">
              <a:rPr lang="en-IN" smtClean="0"/>
              <a:t>05/12/25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D51D8B-EB32-A6DF-76E2-C071E2892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903264-D13E-EE93-263D-49174BDEA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52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75E6-D681-2A9A-620E-CDF623866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00742-2F34-9A7E-3B72-DD9B99FB8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CD8-300D-489E-B16E-CD0157CA398A}" type="datetime1">
              <a:rPr lang="en-IN" smtClean="0"/>
              <a:t>05/12/25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2EC0CE-65E0-DA56-82C2-C346336B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063F5-82B3-6B30-ACCC-F40675E10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406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7D7BA8-2288-AD52-43C9-9A3733CA0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77FEE-8C5F-48A0-B865-7E44A2B97634}" type="datetime1">
              <a:rPr lang="en-IN" smtClean="0"/>
              <a:t>05/12/25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B826F2-EAEF-2ABE-6098-39328C77E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606DF-EBD9-CF42-132C-C58F7AE58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583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A436-0B60-5394-66F7-D3AD37EA6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881C5-C1B0-33C0-BFD5-01EFFF965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A18742-ADB3-0B75-8984-568826E8E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FC35D-1D44-AF23-AC6B-FCD323AE0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1FA16-036E-472F-8379-EF89E947FEE4}" type="datetime1">
              <a:rPr lang="en-IN" smtClean="0"/>
              <a:t>05/12/25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B7CBE-5D82-F6FF-4E6E-43A0465AD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D0FB4-F448-8CDC-7F15-93F16FE20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4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1BD8C-4B08-B6E4-12C1-42AFC087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5F7AA-E1B6-CD28-147F-A07AAB6851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111745-CF18-7A73-A711-4CA20579C1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DB14D6-9A62-EA95-CF75-13B857F3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162D2-E495-459D-B029-0B8D717FB320}" type="datetime1">
              <a:rPr lang="en-IN" smtClean="0"/>
              <a:t>05/12/25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A6000-EE39-14EE-19EA-BE817F48E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F5B818-FF6B-00D6-B3FC-CEB1498FC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04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B7BAB-24CE-1AB4-BA1D-AEF76E153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F0F43B-E46E-03EB-BA3E-905EF4121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025BE-2892-06CB-84A5-DDEAF744D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62F26-2809-44A2-B21A-22C99EDF5019}" type="datetime1">
              <a:rPr lang="en-IN" smtClean="0"/>
              <a:t>05/12/25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A3150-F890-2FA8-B62C-5F0CEFD5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F612A-9787-0402-9853-C97C2A607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7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9DD120-F9C6-8E2C-2C65-9A38B856A8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3E0655-DA98-9FB1-71C1-05897537F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74160-6B54-C6F6-FBEB-E1BA0E60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24F4-7690-47E0-859F-BAD76B859654}" type="datetime1">
              <a:rPr lang="en-IN" smtClean="0"/>
              <a:t>05/12/25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20681-3DB1-5C1B-E254-8A61D9FD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47005-DA7B-402D-4786-AAF70A19B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7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51F2D6-763B-493B-CD73-9D443DD24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A00E5-A473-9799-552C-F58E2962E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B51AB-16AB-98B9-E037-B8C5B5C453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60C17A-1D3B-4747-8E76-739B3EB99950}" type="datetime1">
              <a:rPr lang="en-IN" smtClean="0"/>
              <a:t>05/12/25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2A0CE-110F-2CE5-41CB-91E468AA5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6B8AD-DEF5-801A-0B7B-4E581CEAE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F62C7C-9FA6-4436-90F7-C7370BED1EB3}" type="slidenum">
              <a:rPr lang="en-US" smtClean="0"/>
              <a:pPr/>
              <a:t>‹#›</a:t>
            </a:fld>
            <a:r>
              <a:rPr lang="en-US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1648677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3" Type="http://schemas.openxmlformats.org/officeDocument/2006/relationships/slide" Target="slide4.xml"/><Relationship Id="rId7" Type="http://schemas.openxmlformats.org/officeDocument/2006/relationships/slide" Target="slide2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6.xml"/><Relationship Id="rId5" Type="http://schemas.openxmlformats.org/officeDocument/2006/relationships/slide" Target="slide14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of a national institute of technology&#10;&#10;Description automatically generated">
            <a:extLst>
              <a:ext uri="{FF2B5EF4-FFF2-40B4-BE49-F238E27FC236}">
                <a16:creationId xmlns:a16="http://schemas.microsoft.com/office/drawing/2014/main" id="{0836F0EA-D4C7-0822-44C4-05C129DBC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825" y="375458"/>
            <a:ext cx="1026825" cy="1026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3C0998-21F0-E3C1-F812-EE94F9B7CC2B}"/>
              </a:ext>
            </a:extLst>
          </p:cNvPr>
          <p:cNvSpPr txBox="1"/>
          <p:nvPr/>
        </p:nvSpPr>
        <p:spPr>
          <a:xfrm>
            <a:off x="2653249" y="504151"/>
            <a:ext cx="68855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Visvesvaraya National Institute of Technology, Nagpur</a:t>
            </a:r>
          </a:p>
          <a:p>
            <a:pPr algn="ctr"/>
            <a:r>
              <a:rPr lang="en-US" sz="2000" b="1" dirty="0">
                <a:latin typeface="+mj-lt"/>
              </a:rPr>
              <a:t>Electronics and Communication Engineering Department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436944-9102-B8DD-4937-53CE23F863CD}"/>
              </a:ext>
            </a:extLst>
          </p:cNvPr>
          <p:cNvCxnSpPr/>
          <p:nvPr/>
        </p:nvCxnSpPr>
        <p:spPr>
          <a:xfrm>
            <a:off x="399637" y="2540021"/>
            <a:ext cx="110477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CC8E6D-9AC9-207F-5269-04FCA0C97961}"/>
              </a:ext>
            </a:extLst>
          </p:cNvPr>
          <p:cNvSpPr txBox="1"/>
          <p:nvPr/>
        </p:nvSpPr>
        <p:spPr>
          <a:xfrm>
            <a:off x="3660622" y="2810598"/>
            <a:ext cx="487075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Virtual Yoga Trainer</a:t>
            </a:r>
          </a:p>
          <a:p>
            <a:r>
              <a:rPr lang="en-US" b="1" dirty="0"/>
              <a:t>Pose Detection &amp; Correction using Deep Learning</a:t>
            </a:r>
            <a:endParaRPr lang="en-US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3C08EE-8491-1D44-274A-D679D012EA7B}"/>
              </a:ext>
            </a:extLst>
          </p:cNvPr>
          <p:cNvSpPr txBox="1"/>
          <p:nvPr/>
        </p:nvSpPr>
        <p:spPr>
          <a:xfrm>
            <a:off x="3900139" y="3909576"/>
            <a:ext cx="4556312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Presented by</a:t>
            </a:r>
          </a:p>
          <a:p>
            <a:pPr algn="ctr"/>
            <a:r>
              <a:rPr lang="en-US" sz="2400" b="1" dirty="0">
                <a:solidFill>
                  <a:srgbClr val="002060"/>
                </a:solidFill>
              </a:rPr>
              <a:t>Sai Sudha </a:t>
            </a:r>
            <a:r>
              <a:rPr lang="en-US" sz="2400" b="1" dirty="0" err="1">
                <a:solidFill>
                  <a:srgbClr val="002060"/>
                </a:solidFill>
              </a:rPr>
              <a:t>Vadisina</a:t>
            </a:r>
            <a:r>
              <a:rPr lang="en-US" sz="2400" b="1" dirty="0">
                <a:solidFill>
                  <a:srgbClr val="002060"/>
                </a:solidFill>
              </a:rPr>
              <a:t> (MT24AAC019)</a:t>
            </a:r>
          </a:p>
          <a:p>
            <a:pPr algn="ctr"/>
            <a:r>
              <a:rPr lang="en-US" sz="2000" b="1" dirty="0" err="1"/>
              <a:t>DevOPs</a:t>
            </a:r>
            <a:r>
              <a:rPr lang="en-US" sz="2000" b="1" dirty="0"/>
              <a:t> Engineer III in Amazon</a:t>
            </a:r>
            <a:endParaRPr 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6906C1-A200-6BB6-2FA3-502611F915AB}"/>
              </a:ext>
            </a:extLst>
          </p:cNvPr>
          <p:cNvSpPr txBox="1"/>
          <p:nvPr/>
        </p:nvSpPr>
        <p:spPr>
          <a:xfrm>
            <a:off x="4836133" y="5400139"/>
            <a:ext cx="268432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Under the supervision of</a:t>
            </a:r>
          </a:p>
          <a:p>
            <a:pPr algn="ctr"/>
            <a:r>
              <a:rPr lang="en-US" sz="2400" b="1" dirty="0" err="1">
                <a:solidFill>
                  <a:srgbClr val="002060"/>
                </a:solidFill>
              </a:rPr>
              <a:t>Dr.Pradnya</a:t>
            </a:r>
            <a:r>
              <a:rPr lang="en-US" sz="2400" b="1" dirty="0">
                <a:solidFill>
                  <a:srgbClr val="002060"/>
                </a:solidFill>
              </a:rPr>
              <a:t> H Ghare</a:t>
            </a:r>
          </a:p>
          <a:p>
            <a:pPr algn="ctr"/>
            <a:r>
              <a:rPr lang="en-US" sz="2400" b="1" dirty="0"/>
              <a:t>VNIT Nagpur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113255-FBC0-1E35-5573-1F719584E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D5500-71C4-4001-8F33-8C22722166F3}" type="datetime1">
              <a:rPr lang="en-IN" smtClean="0"/>
              <a:t>05/12/25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6B8CB38-AB1E-3F70-E960-86C496A5F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DE005E-64E3-E478-B34F-E79F94A13EA5}"/>
              </a:ext>
            </a:extLst>
          </p:cNvPr>
          <p:cNvSpPr txBox="1"/>
          <p:nvPr/>
        </p:nvSpPr>
        <p:spPr>
          <a:xfrm>
            <a:off x="3048762" y="1524358"/>
            <a:ext cx="60944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u="sng" dirty="0"/>
              <a:t>Executive </a:t>
            </a:r>
            <a:r>
              <a:rPr lang="en-US" sz="2000" b="1" u="sng" dirty="0" err="1"/>
              <a:t>M.Tech</a:t>
            </a:r>
            <a:r>
              <a:rPr lang="en-US" sz="2000" b="1" u="sng" dirty="0"/>
              <a:t>. in Applied AI and Communications</a:t>
            </a:r>
          </a:p>
          <a:p>
            <a:pPr algn="ctr"/>
            <a:r>
              <a:rPr lang="en-US" sz="2000" b="1" u="sng" dirty="0"/>
              <a:t>Cohort 3B sem. 2, Winter 2025</a:t>
            </a:r>
          </a:p>
          <a:p>
            <a:pPr algn="ctr"/>
            <a:r>
              <a:rPr lang="en-US" sz="2000" b="1" u="sng" dirty="0"/>
              <a:t>Final Eval. (06/12/2025)</a:t>
            </a:r>
          </a:p>
        </p:txBody>
      </p:sp>
    </p:spTree>
    <p:extLst>
      <p:ext uri="{BB962C8B-B14F-4D97-AF65-F5344CB8AC3E}">
        <p14:creationId xmlns:p14="http://schemas.microsoft.com/office/powerpoint/2010/main" val="15007529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78DC1-2314-1936-E491-A2AA61174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83446-B031-65D4-C2BF-E38ADC6964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 action="ppaction://hlinksldjump"/>
              </a:rPr>
              <a:t>Introduction</a:t>
            </a:r>
            <a:endParaRPr lang="en-US" dirty="0"/>
          </a:p>
          <a:p>
            <a:r>
              <a:rPr lang="en-US" dirty="0">
                <a:hlinkClick r:id="rId3" action="ppaction://hlinksldjump"/>
              </a:rPr>
              <a:t>Objective for the project</a:t>
            </a:r>
            <a:endParaRPr lang="en-US" dirty="0"/>
          </a:p>
          <a:p>
            <a:r>
              <a:rPr lang="en-US" dirty="0">
                <a:hlinkClick r:id="rId4" action="ppaction://hlinksldjump"/>
              </a:rPr>
              <a:t>Deep Learning Components</a:t>
            </a:r>
            <a:endParaRPr lang="en-US" dirty="0"/>
          </a:p>
          <a:p>
            <a:r>
              <a:rPr lang="en-US" dirty="0">
                <a:hlinkClick r:id="rId4" action="ppaction://hlinksldjump"/>
              </a:rPr>
              <a:t>Timeline of the project</a:t>
            </a:r>
            <a:endParaRPr lang="en-US" dirty="0"/>
          </a:p>
          <a:p>
            <a:r>
              <a:rPr lang="en-US" dirty="0">
                <a:hlinkClick r:id="rId5" action="ppaction://hlinksldjump"/>
              </a:rPr>
              <a:t>Drawbacks and Advantages</a:t>
            </a:r>
            <a:endParaRPr lang="en-US" dirty="0">
              <a:hlinkClick r:id="rId6" action="ppaction://hlinksldjump"/>
            </a:endParaRPr>
          </a:p>
          <a:p>
            <a:r>
              <a:rPr lang="en-US" dirty="0">
                <a:hlinkClick r:id="rId6" action="ppaction://hlinksldjump"/>
              </a:rPr>
              <a:t>Next Plan of Action</a:t>
            </a:r>
            <a:endParaRPr lang="en-US" dirty="0"/>
          </a:p>
          <a:p>
            <a:r>
              <a:rPr lang="en-US" dirty="0">
                <a:hlinkClick r:id="rId7" action="ppaction://hlinksldjump"/>
              </a:rPr>
              <a:t>Conclusion</a:t>
            </a:r>
            <a:endParaRPr lang="en-US" dirty="0"/>
          </a:p>
          <a:p>
            <a:r>
              <a:rPr lang="en-US" dirty="0">
                <a:hlinkClick r:id="rId8" action="ppaction://hlinksldjump"/>
              </a:rPr>
              <a:t>References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3EAE4-7B8A-1BB4-7A82-30D1B7070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05/12/25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5E49F3-1CC0-B691-D400-C0CD39A42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38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1843-B53B-E0B7-2406-AAA2AAA7F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CB015-3B0B-52FB-DD1A-3EE8D91A2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is to launch a virtual yoga studio front-end by integrating deep learning for real-time pose detection and correction.</a:t>
            </a:r>
          </a:p>
          <a:p>
            <a:endParaRPr lang="en-US" dirty="0"/>
          </a:p>
          <a:p>
            <a:r>
              <a:rPr lang="en-US" dirty="0"/>
              <a:t>Goal: Leverage AI to analyze user poses, provide instant feedback, and guide users to correct postures for safer and more effective at-home yoga practice.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BB601-FBC2-B8E9-2FB1-0DE4D9B2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05/12/25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31EA7-2FE7-15EE-F4AF-F046C7457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9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ADF40-F19A-D2C4-F90B-6FECAFED0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5D0E4-AD5D-FDC4-B83F-60970BD27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Launch a virtual yoga studio with AI features</a:t>
            </a:r>
          </a:p>
          <a:p>
            <a:r>
              <a:rPr lang="en-US" dirty="0"/>
              <a:t>Provide real-time posture correction and feedback</a:t>
            </a:r>
          </a:p>
          <a:p>
            <a:r>
              <a:rPr lang="en-US" dirty="0"/>
              <a:t>Enable safer and consistent yoga practice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E45DA-79AD-441F-6D6A-F73E02765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05/12/25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1713A-7AC8-8392-67DB-8688851C2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FF034A3-6457-BEDA-B79B-32E9F7686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446" y="819583"/>
            <a:ext cx="2986354" cy="447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817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67CF1-53B3-9EDF-EBD0-AAC900B62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4CB8C-A3E4-3BC4-8629-BB44D5A43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Real-time yoga pose recognition</a:t>
            </a:r>
          </a:p>
          <a:p>
            <a:r>
              <a:rPr lang="en-US" dirty="0"/>
              <a:t>AI-driven posture correction</a:t>
            </a:r>
          </a:p>
          <a:p>
            <a:r>
              <a:rPr lang="en-US" dirty="0"/>
              <a:t>Safer practice with fewer injuries</a:t>
            </a:r>
          </a:p>
          <a:p>
            <a:r>
              <a:rPr lang="en-US" dirty="0"/>
              <a:t>Encourages consistent yoga practice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F930F-1F93-CD6C-D87E-A8655B603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05/12/25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12BE96-5FFF-CE0D-B9AB-280977216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65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40912-4C78-DD2D-0E07-FEABCF7D4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of the project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60860-8BC4-2948-19A4-344A852B6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05/12/25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B0629-6098-89B0-A771-7C08AB637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F7E48C-DD43-6D7C-D561-0DCF19172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758563"/>
              </p:ext>
            </p:extLst>
          </p:nvPr>
        </p:nvGraphicFramePr>
        <p:xfrm>
          <a:off x="705998" y="2136050"/>
          <a:ext cx="10240791" cy="299999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209494">
                  <a:extLst>
                    <a:ext uri="{9D8B030D-6E8A-4147-A177-3AD203B41FA5}">
                      <a16:colId xmlns:a16="http://schemas.microsoft.com/office/drawing/2014/main" val="2851245147"/>
                    </a:ext>
                  </a:extLst>
                </a:gridCol>
                <a:gridCol w="4990641">
                  <a:extLst>
                    <a:ext uri="{9D8B030D-6E8A-4147-A177-3AD203B41FA5}">
                      <a16:colId xmlns:a16="http://schemas.microsoft.com/office/drawing/2014/main" val="2369017176"/>
                    </a:ext>
                  </a:extLst>
                </a:gridCol>
                <a:gridCol w="3040656">
                  <a:extLst>
                    <a:ext uri="{9D8B030D-6E8A-4147-A177-3AD203B41FA5}">
                      <a16:colId xmlns:a16="http://schemas.microsoft.com/office/drawing/2014/main" val="2874862991"/>
                    </a:ext>
                  </a:extLst>
                </a:gridCol>
              </a:tblGrid>
              <a:tr h="43318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Phase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3942137"/>
                  </a:ext>
                </a:extLst>
              </a:tr>
              <a:tr h="42102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Dataset preparation &amp; preprocessing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sz="1800" dirty="0"/>
                        <a:t>✅ 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3827596"/>
                  </a:ext>
                </a:extLst>
              </a:tr>
              <a:tr h="43919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Model training &amp; tuning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800" dirty="0"/>
                        <a:t>✅ 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109944"/>
                  </a:ext>
                </a:extLst>
              </a:tr>
              <a:tr h="43919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Integration with UI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sz="1800" dirty="0"/>
                        <a:t>✅ 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953606"/>
                  </a:ext>
                </a:extLst>
              </a:tr>
              <a:tr h="43919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Testing &amp; Evaluation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sz="1800" dirty="0"/>
                        <a:t>✅ 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626778"/>
                  </a:ext>
                </a:extLst>
              </a:tr>
              <a:tr h="4141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Final presentation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sz="1800" dirty="0"/>
                        <a:t>✅ 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6730913"/>
                  </a:ext>
                </a:extLst>
              </a:tr>
              <a:tr h="41410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Phase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Final documentation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lang="en-US" sz="1800" dirty="0"/>
                        <a:t>🟡 In Progress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561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562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513F6-F75E-3074-7AA9-CBAE368E0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9DA6B-D007-9258-492C-F02646875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of the project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42EF9-2F83-0E67-723E-08CFCDDBB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05/12/25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89B5E9-83CE-F945-34A2-871572582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940DFF87-C3F4-7577-646C-276641E156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87" r="1182" b="23443"/>
          <a:stretch>
            <a:fillRect/>
          </a:stretch>
        </p:blipFill>
        <p:spPr bwMode="auto">
          <a:xfrm>
            <a:off x="2388868" y="1690688"/>
            <a:ext cx="8685532" cy="3400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855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PoseNet / ml5.js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Browser-based pose estimation detecting 17 keypoints (body joints).</a:t>
            </a:r>
          </a:p>
          <a:p>
            <a:r>
              <a:rPr sz="1800"/>
              <a:t>ml5.js wraps PoseNet for easy integration and simple API.</a:t>
            </a:r>
          </a:p>
          <a:p>
            <a:r>
              <a:rPr sz="1800"/>
              <a:t>Pros: real-time inference in-browser, minimal backend dependency.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p5.js (Visualization &amp; UI)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Lightweight JS library for creative coding and canvas drawing.</a:t>
            </a:r>
          </a:p>
          <a:p>
            <a:r>
              <a:rPr sz="1800"/>
              <a:t>Used to render keypoints, skeleton overlays, and feedback UI.</a:t>
            </a:r>
          </a:p>
          <a:p>
            <a:r>
              <a:rPr sz="1800"/>
              <a:t>Keeps frontend interactive while remaining performant on browsers.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TensorFlow.js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Runs ML models directly in the browser using JavaScript.</a:t>
            </a:r>
          </a:p>
          <a:p>
            <a:r>
              <a:rPr sz="1800"/>
              <a:t>Allows client-side inference and model exporting from TensorFlow.</a:t>
            </a:r>
          </a:p>
          <a:p>
            <a:r>
              <a:rPr sz="1800"/>
              <a:t>Enables low-latency feedback without server round-trips.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Backend: Python &amp; TensorFlow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Used for initial model training and heavier experiments.</a:t>
            </a:r>
          </a:p>
          <a:p>
            <a:r>
              <a:rPr sz="1800"/>
              <a:t>Leverages TensorFlow (Python) for training, experimentation, and exporting models.</a:t>
            </a:r>
          </a:p>
          <a:p>
            <a:r>
              <a:rPr sz="1800"/>
              <a:t>Facilitates offline training on GPU-enabled environments.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TensorFlow Lite &amp; Mobile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Model optimization for edge devices and mobile apps.</a:t>
            </a:r>
          </a:p>
          <a:p>
            <a:r>
              <a:rPr sz="1800"/>
              <a:t>Reduces model size &amp; latency for deployment on mobile/embedded devices.</a:t>
            </a:r>
          </a:p>
          <a:p>
            <a:r>
              <a:rPr sz="1800"/>
              <a:t>Supports conversion from TensorFlow models to lightweight formats.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Native (Mobile Interface)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Cross-platform framework for mobile UI and native features.</a:t>
            </a:r>
          </a:p>
          <a:p>
            <a:r>
              <a:rPr sz="1800"/>
              <a:t>Integrates camera stream, model inference hooks, and app UX.</a:t>
            </a:r>
          </a:p>
          <a:p>
            <a:r>
              <a:rPr sz="1800"/>
              <a:t>Enables packaging web-models or TFLite-based inference on mobile.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56536-C554-96E2-3F00-C92A75C5D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5446D-06A5-E9F1-3DB2-777823B0F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Drawbacks of Other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31AB3-ABD3-17D4-2C88-F7006FA3F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Mediapipe</a:t>
            </a:r>
            <a:r>
              <a:rPr dirty="0"/>
              <a:t> – High accuracy but complex for browser integration.</a:t>
            </a:r>
          </a:p>
          <a:p>
            <a:r>
              <a:rPr dirty="0" err="1"/>
              <a:t>OpenPose</a:t>
            </a:r>
            <a:r>
              <a:rPr dirty="0"/>
              <a:t> – Requires GPU support; heavy and slower for mobile.</a:t>
            </a:r>
          </a:p>
        </p:txBody>
      </p:sp>
    </p:spTree>
    <p:extLst>
      <p:ext uri="{BB962C8B-B14F-4D97-AF65-F5344CB8AC3E}">
        <p14:creationId xmlns:p14="http://schemas.microsoft.com/office/powerpoint/2010/main" val="2753231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59B66-A7DE-F712-1162-C490FAB36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AFD2F-B0DE-E06B-8D35-444E22C3D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</a:t>
            </a:r>
            <a:r>
              <a:rPr lang="en-US" dirty="0" err="1"/>
              <a:t>PoseNet.js</a:t>
            </a:r>
            <a:r>
              <a:rPr lang="en-US" dirty="0"/>
              <a:t> and ml5.js: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29BFE-F488-C0F1-D6A3-9CD140DB3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Easy integration for browser and mobile-based applications.</a:t>
            </a:r>
          </a:p>
          <a:p>
            <a:r>
              <a:rPr dirty="0"/>
              <a:t>Real-time inference without backend dependency.</a:t>
            </a:r>
          </a:p>
          <a:p>
            <a:r>
              <a:rPr dirty="0"/>
              <a:t>Lower setup time and supports cross-platform devices</a:t>
            </a:r>
            <a:r>
              <a:rPr lang="en-US" dirty="0"/>
              <a:t>.\t size.</a:t>
            </a:r>
          </a:p>
        </p:txBody>
      </p:sp>
    </p:spTree>
    <p:extLst>
      <p:ext uri="{BB962C8B-B14F-4D97-AF65-F5344CB8AC3E}">
        <p14:creationId xmlns:p14="http://schemas.microsoft.com/office/powerpoint/2010/main" val="296968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E987C-BD7E-2B16-B2B2-C1D549AF2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FCEB8-1125-CFC9-F748-6F880ACDF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Model Limitations &amp; Mitigation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A87A8-30E6-A7B8-B8AA-9EED761BD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Accuracy drops in complex backgrounds → Use data augmentation.</a:t>
            </a:r>
          </a:p>
          <a:p>
            <a:r>
              <a:rPr dirty="0"/>
              <a:t>Limited pose set → Extend dataset with more yoga postures.</a:t>
            </a:r>
          </a:p>
          <a:p>
            <a:r>
              <a:rPr dirty="0"/>
              <a:t>Latency on low-end devices → Optimize model and reduce input size.</a:t>
            </a:r>
          </a:p>
        </p:txBody>
      </p:sp>
    </p:spTree>
    <p:extLst>
      <p:ext uri="{BB962C8B-B14F-4D97-AF65-F5344CB8AC3E}">
        <p14:creationId xmlns:p14="http://schemas.microsoft.com/office/powerpoint/2010/main" val="39533058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&amp; Tooling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Git for version control; feature-branch &amp; PR workflow followed.</a:t>
            </a:r>
          </a:p>
          <a:p>
            <a:r>
              <a:rPr sz="1800"/>
              <a:t>Prefect (if used) for pipeline orchestration and reproducibility.</a:t>
            </a:r>
          </a:p>
          <a:p>
            <a:r>
              <a:rPr sz="1800"/>
              <a:t>CI: GitHub Actions for testing, linting, and Prefect dry-run simulations.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Data augmentation, normalization, and resizing to improve robustness.</a:t>
            </a:r>
          </a:p>
          <a:p>
            <a:r>
              <a:rPr sz="1800"/>
              <a:t>Angle-based joint computations for rule-based posture correction.</a:t>
            </a:r>
          </a:p>
          <a:p>
            <a:r>
              <a:rPr sz="1800"/>
              <a:t>Handling occlusions and varying lighting through augmentation strategies.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 &amp; Performance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Client-side inference reduces uploaded personal data exposure.</a:t>
            </a:r>
          </a:p>
          <a:p>
            <a:r>
              <a:rPr sz="1800"/>
              <a:t>Model size and input resolution tuned to balance accuracy &amp; latency.</a:t>
            </a:r>
          </a:p>
          <a:p>
            <a:r>
              <a:rPr sz="1800"/>
              <a:t>Fallbacks for low-end devices: lower-res input, simplified feedback.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73AF0-93D0-3FC6-3064-D35CF2FAB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F41A-A945-1EA6-CC92-61AA5590E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Next</a:t>
            </a:r>
            <a:r>
              <a:rPr lang="en-US" dirty="0"/>
              <a:t> P</a:t>
            </a:r>
            <a:r>
              <a:rPr dirty="0"/>
              <a:t>lan of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9D147-0CFF-A7CE-0B3F-A50BB5917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Prepare final report.</a:t>
            </a:r>
          </a:p>
          <a:p>
            <a:r>
              <a:rPr dirty="0"/>
              <a:t>Incorporate user feedback and final polish.</a:t>
            </a:r>
          </a:p>
        </p:txBody>
      </p:sp>
    </p:spTree>
    <p:extLst>
      <p:ext uri="{BB962C8B-B14F-4D97-AF65-F5344CB8AC3E}">
        <p14:creationId xmlns:p14="http://schemas.microsoft.com/office/powerpoint/2010/main" val="2695289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D7946-0A8C-BCA6-0A1B-10BC3C540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BC012-42D0-62FD-95F5-83CB0D8C6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75096-C7F6-3018-7A09-0770F7778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achieved consistent pose detection accuracy across varied lighting</a:t>
            </a:r>
          </a:p>
          <a:p>
            <a:r>
              <a:rPr lang="en-US" dirty="0"/>
              <a:t>Angle-based evaluation proved effective for identifying posture deviations</a:t>
            </a:r>
          </a:p>
          <a:p>
            <a:r>
              <a:rPr lang="en-US" dirty="0"/>
              <a:t>Feedback improved user alignment over multiple trials</a:t>
            </a:r>
          </a:p>
          <a:p>
            <a:r>
              <a:rPr lang="en-US" dirty="0"/>
              <a:t>Limitations: camera alignment sensitivity, challenges with occluded joints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C643F-97EB-B998-E18C-01D99BC28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05/12/25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150C0-751D-8DCC-1EA9-604F77686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40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C0F73-CE6E-8EFB-3B08-F2BFC6D2B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05/12/25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1AB1E2-9E06-873D-04A6-5FAC636C0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22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521217-39B8-390E-1056-A4A331CE5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7229" y="526175"/>
            <a:ext cx="9457541" cy="5180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0658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044BB-2D68-A3B1-12C2-95DFF4236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D3636-DFFE-5BDE-4A33-0339EFDC1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05/12/25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615942-AD33-B6D8-A6F0-FD4EE5A97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23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8A5CD5-FF22-D9A5-A180-781152730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972" y="619698"/>
            <a:ext cx="9304056" cy="509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9146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B4D5C-540D-096A-9241-65AF1DDB0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828CE-EF33-D822-25C4-09275BC92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 Yoga Trainer successfully guides users to correct postures.</a:t>
            </a:r>
          </a:p>
          <a:p>
            <a:r>
              <a:rPr lang="en-US" dirty="0" err="1"/>
              <a:t>PoseNet</a:t>
            </a:r>
            <a:r>
              <a:rPr lang="en-US" dirty="0"/>
              <a:t>-based analysis provides reliable joint detection.</a:t>
            </a:r>
          </a:p>
          <a:p>
            <a:r>
              <a:rPr lang="en-US" dirty="0"/>
              <a:t>Angle-based correction method enhances usability.</a:t>
            </a:r>
          </a:p>
          <a:p>
            <a:r>
              <a:rPr lang="en-US" dirty="0"/>
              <a:t>Future work: hardware extension, larger dataset training, improved 3D pose estimation.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FCB81-CBA8-749F-F4DB-379D1DEDB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05/12/25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1311C8-58F0-0433-44E2-3D66F212F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35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69C45-C153-EEEE-4B34-25D029069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62AB0-996D-1567-36E2-F27B9DFFC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PosePilot</a:t>
            </a:r>
            <a:r>
              <a:rPr lang="en-US" dirty="0"/>
              <a:t>: Edge-AI Posture Correction (2025)</a:t>
            </a:r>
          </a:p>
          <a:p>
            <a:r>
              <a:rPr lang="en-US" dirty="0"/>
              <a:t>Yoga Pose Recognition &amp; Motion Analysis (2025)</a:t>
            </a:r>
          </a:p>
          <a:p>
            <a:r>
              <a:rPr lang="en-US" dirty="0"/>
              <a:t>Image-Based Yoga Pose Recognition with Attention (2024)</a:t>
            </a:r>
          </a:p>
          <a:p>
            <a:r>
              <a:rPr lang="en-US" dirty="0"/>
              <a:t>GTA-Net: IoT-based 3D Pose Estimation (2024)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2EB66-6C3B-0BC0-2D20-987EC328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05/12/25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FFBBA-6CED-E927-5EED-B5B1722C8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38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54A9C-93AE-B5F3-F1A4-B23DCB289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5400" dirty="0"/>
              <a:t>Thank you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344B8-A1D8-CD59-8F23-27063C556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0E4A5-9B2D-42E2-A09F-AFAF775BA73B}" type="datetime1">
              <a:rPr lang="en-IN" smtClean="0"/>
              <a:t>05/12/25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7C0E03-881C-0985-CD32-CC21B0D86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62C7C-9FA6-4436-90F7-C7370BED1EB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15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813</Words>
  <Application>Microsoft Macintosh PowerPoint</Application>
  <PresentationFormat>Widescreen</PresentationFormat>
  <Paragraphs>150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PowerPoint Presentation</vt:lpstr>
      <vt:lpstr>Table of Contents:</vt:lpstr>
      <vt:lpstr>Introduction</vt:lpstr>
      <vt:lpstr>Objective of the Project</vt:lpstr>
      <vt:lpstr>Expected Outcomes</vt:lpstr>
      <vt:lpstr>Timeline of the project</vt:lpstr>
      <vt:lpstr>Timeline of the project</vt:lpstr>
      <vt:lpstr>PoseNet / ml5.js</vt:lpstr>
      <vt:lpstr>p5.js (Visualization &amp; UI)</vt:lpstr>
      <vt:lpstr>TensorFlow.js</vt:lpstr>
      <vt:lpstr>Backend: Python &amp; TensorFlow</vt:lpstr>
      <vt:lpstr>TensorFlow Lite &amp; Mobile Deployment</vt:lpstr>
      <vt:lpstr>React Native (Mobile Interface)</vt:lpstr>
      <vt:lpstr>Drawbacks of Other Libraries</vt:lpstr>
      <vt:lpstr>Advantages of PoseNet.js and ml5.js:</vt:lpstr>
      <vt:lpstr>Existing Model Limitations &amp; Mitigation</vt:lpstr>
      <vt:lpstr>Development &amp; Tooling</vt:lpstr>
      <vt:lpstr>Data &amp; Preprocessing</vt:lpstr>
      <vt:lpstr>Privacy &amp; Performance Considerations</vt:lpstr>
      <vt:lpstr>Next Plan of Action</vt:lpstr>
      <vt:lpstr>Results and Discussion</vt:lpstr>
      <vt:lpstr>PowerPoint Presentation</vt:lpstr>
      <vt:lpstr>PowerPoint Presentation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Praveen Pawar</dc:creator>
  <cp:lastModifiedBy>Vadisina, Sai Sudha Reddy</cp:lastModifiedBy>
  <cp:revision>14</cp:revision>
  <dcterms:created xsi:type="dcterms:W3CDTF">2025-05-09T09:30:28Z</dcterms:created>
  <dcterms:modified xsi:type="dcterms:W3CDTF">2025-12-05T15:56:23Z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2025-09-20T02:45:16Z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ded7b103-b5fe-4394-8bf7-72955552c03b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